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23.svg" ContentType="image/svg+xml"/>
  <Override PartName="/ppt/media/image25.svg" ContentType="image/svg+xml"/>
  <Override PartName="/ppt/media/image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6"/>
    <p:sldId id="265" r:id="rId15"/>
    <p:sldId id="267" r:id="rId17"/>
  </p:sldIdLst>
  <p:sldSz cx="18288000" cy="10287000"/>
  <p:notesSz cx="6858000" cy="9144000"/>
  <p:embeddedFontLst>
    <p:embeddedFont>
      <p:font typeface="Boston Angel" charset="1" panose="00000000000000000000"/>
      <p:regular r:id="rId18"/>
    </p:embeddedFont>
    <p:embeddedFont>
      <p:font typeface="Boston Angel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rfc-editor.org/info/rfc9293" TargetMode="External"/><Relationship Id="rId3" Type="http://schemas.openxmlformats.org/officeDocument/2006/relationships/hyperlink" Target="https://docs.python.org/3/library/socket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52952"/>
            <a:ext cx="2525151" cy="3784287"/>
          </a:xfrm>
          <a:custGeom>
            <a:avLst/>
            <a:gdLst/>
            <a:ahLst/>
            <a:cxnLst/>
            <a:rect r="r" b="b" t="t" l="l"/>
            <a:pathLst>
              <a:path h="3784287" w="2525151">
                <a:moveTo>
                  <a:pt x="0" y="0"/>
                </a:moveTo>
                <a:lnTo>
                  <a:pt x="2525151" y="0"/>
                </a:lnTo>
                <a:lnTo>
                  <a:pt x="2525151" y="3784287"/>
                </a:lnTo>
                <a:lnTo>
                  <a:pt x="0" y="378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944134" y="0"/>
            <a:ext cx="10399731" cy="3001393"/>
          </a:xfrm>
          <a:custGeom>
            <a:avLst/>
            <a:gdLst/>
            <a:ahLst/>
            <a:cxnLst/>
            <a:rect r="r" b="b" t="t" l="l"/>
            <a:pathLst>
              <a:path h="3001393" w="10399731">
                <a:moveTo>
                  <a:pt x="0" y="0"/>
                </a:moveTo>
                <a:lnTo>
                  <a:pt x="10399732" y="0"/>
                </a:lnTo>
                <a:lnTo>
                  <a:pt x="10399732" y="3001393"/>
                </a:lnTo>
                <a:lnTo>
                  <a:pt x="0" y="3001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0" y="9804400"/>
            <a:ext cx="7315200" cy="88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omputer Networks Laboratory  CSE20110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id="9" name="Title"/>
          <p:cNvSpPr txBox="1"/>
          <p:nvPr/>
        </p:nvSpPr>
        <p:spPr>
          <a:xfrm>
            <a:off x="2743200" y="2926080"/>
            <a:ext cx="12801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400" b="1" i="0" u="sng">
                <a:solidFill>
                  <a:srgbClr val="000000"/>
                </a:solidFill>
                <a:latin typeface="Cambria"/>
              </a:rPr>
              <a:t>Distributed Chat with Leader Election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2743200" y="3840480"/>
            <a:ext cx="12801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Mini-project presentation</a:t>
            </a:r>
          </a:p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Computer Networks Laboratory (CSE20110)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Department of Computer Engineering and Technology</a:t>
            </a:r>
          </a:p>
        </p:txBody>
      </p:sp>
      <p:sp>
        <p:nvSpPr>
          <p:cNvPr id="11" name="PRN column"/>
          <p:cNvSpPr txBox="1"/>
          <p:nvPr/>
        </p:nvSpPr>
        <p:spPr>
          <a:xfrm>
            <a:off x="4572000" y="562356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1262241930</a:t>
            </a:r>
          </a:p>
          <a:p>
            <a:pPr algn="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1262243385</a:t>
            </a:r>
          </a:p>
          <a:p>
            <a:pPr algn="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1262243181</a:t>
            </a:r>
          </a:p>
          <a:p>
            <a:pPr algn="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1262241292</a:t>
            </a:r>
          </a:p>
        </p:txBody>
      </p:sp>
      <p:sp>
        <p:nvSpPr>
          <p:cNvPr id="12" name="Name column"/>
          <p:cNvSpPr txBox="1"/>
          <p:nvPr/>
        </p:nvSpPr>
        <p:spPr>
          <a:xfrm>
            <a:off x="9418320" y="562356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Mitansh Dekate</a:t>
            </a:r>
          </a:p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Om Mali</a:t>
            </a:r>
          </a:p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Kartik Saxena</a:t>
            </a:r>
          </a:p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Harpal Kalankar</a:t>
            </a:r>
          </a:p>
        </p:txBody>
      </p:sp>
      <p:sp>
        <p:nvSpPr>
          <p:cNvPr id="13" name="Details"/>
          <p:cNvSpPr txBox="1"/>
          <p:nvPr/>
        </p:nvSpPr>
        <p:spPr>
          <a:xfrm>
            <a:off x="2743200" y="7818120"/>
            <a:ext cx="12801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Group 11    Panel K (iOS)    Batch 2 &amp; 3</a:t>
            </a:r>
          </a:p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Faculty: Dr. Uma Pujeri Mam, Dr. Swati Mam</a:t>
            </a:r>
          </a:p>
          <a:p>
            <a:pPr algn="ctr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Academic Year: 2026–2027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600" b="0" i="0" u="none">
                <a:solidFill>
                  <a:srgbClr val="000000"/>
                </a:solidFill>
                <a:latin typeface="Cambria"/>
              </a:rPr>
              <a:t>Presentation date: 10/26/2026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759072" y="-934351"/>
            <a:ext cx="1594577" cy="3463279"/>
          </a:xfrm>
          <a:custGeom>
            <a:avLst/>
            <a:gdLst/>
            <a:ahLst/>
            <a:cxnLst/>
            <a:rect r="r" b="b" t="t" l="l"/>
            <a:pathLst>
              <a:path h="3463279" w="1594577">
                <a:moveTo>
                  <a:pt x="0" y="0"/>
                </a:moveTo>
                <a:lnTo>
                  <a:pt x="1594577" y="0"/>
                </a:lnTo>
                <a:lnTo>
                  <a:pt x="1594577" y="3463279"/>
                </a:lnTo>
                <a:lnTo>
                  <a:pt x="0" y="3463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2743200" y="457200"/>
            <a:ext cx="1280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1" i="0" u="sng">
                <a:solidFill>
                  <a:srgbClr val="000000"/>
                </a:solidFill>
                <a:latin typeface="Cambria"/>
              </a:rPr>
              <a:t>Problem Statement</a:t>
            </a:r>
          </a:p>
        </p:txBody>
      </p:sp>
      <p:sp>
        <p:nvSpPr>
          <p:cNvPr id="8" name="Problem text"/>
          <p:cNvSpPr txBox="1"/>
          <p:nvPr/>
        </p:nvSpPr>
        <p:spPr>
          <a:xfrm>
            <a:off x="1097280" y="1371600"/>
            <a:ext cx="16093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A conventional chat server is a single point of failure: when it crashes, every connected user loses the service. A distributed chat service runs several server nodes, so it needs leader election to choose a coordinator, failure detection to notice a crash, and message replication so that no message is lost and every user sees one order.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2743200" y="3977639"/>
            <a:ext cx="1280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1" i="0" u="sng">
                <a:solidFill>
                  <a:srgbClr val="000000"/>
                </a:solidFill>
                <a:latin typeface="Cambria"/>
              </a:rPr>
              <a:t>Objectives</a:t>
            </a:r>
          </a:p>
        </p:txBody>
      </p:sp>
      <p:sp>
        <p:nvSpPr>
          <p:cNvPr id="10" name="Objectives list"/>
          <p:cNvSpPr txBox="1"/>
          <p:nvPr/>
        </p:nvSpPr>
        <p:spPr>
          <a:xfrm>
            <a:off x="1645920" y="4937760"/>
            <a:ext cx="1517904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731520" indent="-73152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Detect leader failure using heartbeats.</a:t>
            </a:r>
          </a:p>
          <a:p>
            <a:pPr algn="l" marL="731520" indent="-73152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Elect a new leader using three algorithms.</a:t>
            </a:r>
          </a:p>
          <a:p>
            <a:pPr algn="l" marL="731520" indent="-73152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Preserve one consistent, ordered chat history through replication and majority commitment.</a:t>
            </a:r>
          </a:p>
          <a:p>
            <a:pPr algn="l" marL="731520" indent="-73152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Recover restarted nodes and support client reconnection.</a:t>
            </a:r>
          </a:p>
          <a:p>
            <a:pPr algn="l" marL="731520" indent="-73152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Compare election algorithms using message count and recovery time.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6" id="16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17" name="Architecture box"/>
          <p:cNvSpPr/>
          <p:nvPr/>
        </p:nvSpPr>
        <p:spPr>
          <a:xfrm>
            <a:off x="457200" y="411480"/>
            <a:ext cx="11155680" cy="905256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x heading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 u="sng">
                <a:solidFill>
                  <a:srgbClr val="000000"/>
                </a:solidFill>
                <a:latin typeface="Cambria"/>
              </a:rPr>
              <a:t>System Architecture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526280" y="2148840"/>
            <a:ext cx="2697480" cy="1508760"/>
          </a:xfrm>
          <a:prstGeom prst="line">
            <a:avLst/>
          </a:prstGeom>
          <a:ln w="44450">
            <a:solidFill>
              <a:srgbClr val="3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2148840"/>
            <a:ext cx="2697480" cy="1508760"/>
          </a:xfrm>
          <a:prstGeom prst="line">
            <a:avLst/>
          </a:prstGeom>
          <a:ln w="19050">
            <a:solidFill>
              <a:srgbClr val="8FA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532120" y="2148840"/>
            <a:ext cx="1691640" cy="3429000"/>
          </a:xfrm>
          <a:prstGeom prst="line">
            <a:avLst/>
          </a:prstGeom>
          <a:ln w="19050">
            <a:solidFill>
              <a:srgbClr val="8FA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23760" y="2148840"/>
            <a:ext cx="1691640" cy="3429000"/>
          </a:xfrm>
          <a:prstGeom prst="line">
            <a:avLst/>
          </a:prstGeom>
          <a:ln w="19050">
            <a:solidFill>
              <a:srgbClr val="8FA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6280" y="3657600"/>
            <a:ext cx="5394960" cy="0"/>
          </a:xfrm>
          <a:prstGeom prst="line">
            <a:avLst/>
          </a:prstGeom>
          <a:ln w="44450">
            <a:solidFill>
              <a:srgbClr val="3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26280" y="3657600"/>
            <a:ext cx="1005840" cy="1920240"/>
          </a:xfrm>
          <a:prstGeom prst="line">
            <a:avLst/>
          </a:prstGeom>
          <a:ln w="44450">
            <a:solidFill>
              <a:srgbClr val="3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26280" y="3657600"/>
            <a:ext cx="4389120" cy="1920240"/>
          </a:xfrm>
          <a:prstGeom prst="line">
            <a:avLst/>
          </a:prstGeom>
          <a:ln w="44450">
            <a:solidFill>
              <a:srgbClr val="3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532120" y="3657600"/>
            <a:ext cx="4389120" cy="1920240"/>
          </a:xfrm>
          <a:prstGeom prst="line">
            <a:avLst/>
          </a:prstGeom>
          <a:ln w="19050">
            <a:solidFill>
              <a:srgbClr val="8FA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915400" y="3657600"/>
            <a:ext cx="1005840" cy="1920240"/>
          </a:xfrm>
          <a:prstGeom prst="line">
            <a:avLst/>
          </a:prstGeom>
          <a:ln w="19050">
            <a:solidFill>
              <a:srgbClr val="8FA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32120" y="5577840"/>
            <a:ext cx="3383280" cy="0"/>
          </a:xfrm>
          <a:prstGeom prst="line">
            <a:avLst/>
          </a:prstGeom>
          <a:ln w="19050">
            <a:solidFill>
              <a:srgbClr val="8FA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ode 1"/>
          <p:cNvSpPr/>
          <p:nvPr/>
        </p:nvSpPr>
        <p:spPr>
          <a:xfrm>
            <a:off x="5852160" y="164592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F5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00000"/>
                </a:solidFill>
                <a:latin typeface="Cambria"/>
              </a:rPr>
              <a:t>Node 1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000000"/>
                </a:solidFill>
                <a:latin typeface="Cambria"/>
              </a:rPr>
              <a:t>TCP 9001 | HTTP 9101</a:t>
            </a:r>
          </a:p>
        </p:txBody>
      </p:sp>
      <p:sp>
        <p:nvSpPr>
          <p:cNvPr id="30" name="Node 5"/>
          <p:cNvSpPr/>
          <p:nvPr/>
        </p:nvSpPr>
        <p:spPr>
          <a:xfrm>
            <a:off x="3154680" y="315468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34969D"/>
          </a:solidFill>
          <a:ln w="31750">
            <a:solidFill>
              <a:srgbClr val="1F5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Cambria"/>
              </a:rPr>
              <a:t>Node 5  (leader)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FFFFFF"/>
                </a:solidFill>
                <a:latin typeface="Cambria"/>
              </a:rPr>
              <a:t>TCP 9005 | HTTP 9105</a:t>
            </a:r>
          </a:p>
        </p:txBody>
      </p:sp>
      <p:sp>
        <p:nvSpPr>
          <p:cNvPr id="31" name="Node 2"/>
          <p:cNvSpPr/>
          <p:nvPr/>
        </p:nvSpPr>
        <p:spPr>
          <a:xfrm>
            <a:off x="8549640" y="315468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F5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00000"/>
                </a:solidFill>
                <a:latin typeface="Cambria"/>
              </a:rPr>
              <a:t>Node 2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000000"/>
                </a:solidFill>
                <a:latin typeface="Cambria"/>
              </a:rPr>
              <a:t>TCP 9002 | HTTP 9102</a:t>
            </a:r>
          </a:p>
        </p:txBody>
      </p:sp>
      <p:sp>
        <p:nvSpPr>
          <p:cNvPr id="32" name="Node 4"/>
          <p:cNvSpPr/>
          <p:nvPr/>
        </p:nvSpPr>
        <p:spPr>
          <a:xfrm>
            <a:off x="4160520" y="507492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F5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00000"/>
                </a:solidFill>
                <a:latin typeface="Cambria"/>
              </a:rPr>
              <a:t>Node 4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000000"/>
                </a:solidFill>
                <a:latin typeface="Cambria"/>
              </a:rPr>
              <a:t>TCP 9004 | HTTP 9104</a:t>
            </a:r>
          </a:p>
        </p:txBody>
      </p:sp>
      <p:sp>
        <p:nvSpPr>
          <p:cNvPr id="33" name="Node 3"/>
          <p:cNvSpPr/>
          <p:nvPr/>
        </p:nvSpPr>
        <p:spPr>
          <a:xfrm>
            <a:off x="7543800" y="507492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F5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00000"/>
                </a:solidFill>
                <a:latin typeface="Cambria"/>
              </a:rPr>
              <a:t>Node 3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000000"/>
                </a:solidFill>
                <a:latin typeface="Cambria"/>
              </a:rPr>
              <a:t>TCP 9003 | HTTP 9103</a:t>
            </a:r>
          </a:p>
        </p:txBody>
      </p:sp>
      <p:sp>
        <p:nvSpPr>
          <p:cNvPr id="34" name="Mesh label"/>
          <p:cNvSpPr/>
          <p:nvPr/>
        </p:nvSpPr>
        <p:spPr>
          <a:xfrm>
            <a:off x="6035040" y="393192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C8D1D9"/>
          </a:solidFill>
          <a:ln>
            <a:solidFill>
              <a:srgbClr val="C8D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0000"/>
                </a:solidFill>
                <a:latin typeface="Cambria"/>
              </a:rPr>
              <a:t>Full TCP mesh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Cambria"/>
              </a:rPr>
              <a:t>heartbeats + elections</a:t>
            </a:r>
          </a:p>
        </p:txBody>
      </p:sp>
      <p:sp>
        <p:nvSpPr>
          <p:cNvPr id="35" name="Client A"/>
          <p:cNvSpPr/>
          <p:nvPr/>
        </p:nvSpPr>
        <p:spPr>
          <a:xfrm>
            <a:off x="777240" y="16459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D7F0E1"/>
          </a:solidFill>
          <a:ln w="317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0000"/>
                </a:solidFill>
                <a:latin typeface="Cambria"/>
              </a:rPr>
              <a:t>Chat client A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000000"/>
                </a:solidFill>
                <a:latin typeface="Cambria"/>
              </a:rPr>
              <a:t>client.py</a:t>
            </a:r>
          </a:p>
        </p:txBody>
      </p:sp>
      <p:sp>
        <p:nvSpPr>
          <p:cNvPr id="36" name="Client B"/>
          <p:cNvSpPr/>
          <p:nvPr/>
        </p:nvSpPr>
        <p:spPr>
          <a:xfrm>
            <a:off x="777240" y="50749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D7F0E1"/>
          </a:solidFill>
          <a:ln w="317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0000"/>
                </a:solidFill>
                <a:latin typeface="Cambria"/>
              </a:rPr>
              <a:t>Chat client B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000000"/>
                </a:solidFill>
                <a:latin typeface="Cambria"/>
              </a:rPr>
              <a:t>client.py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88920" y="2148840"/>
            <a:ext cx="3063240" cy="0"/>
          </a:xfrm>
          <a:prstGeom prst="line">
            <a:avLst/>
          </a:prstGeom>
          <a:ln w="3810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788920" y="2148840"/>
            <a:ext cx="3063240" cy="0"/>
          </a:xfrm>
          <a:prstGeom prst="line">
            <a:avLst/>
          </a:prstGeom>
          <a:ln w="3810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ink label A"/>
          <p:cNvSpPr txBox="1"/>
          <p:nvPr/>
        </p:nvSpPr>
        <p:spPr>
          <a:xfrm>
            <a:off x="2834640" y="16916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 u="none">
                <a:solidFill>
                  <a:srgbClr val="1B5E3B"/>
                </a:solidFill>
                <a:latin typeface="Cambria"/>
              </a:rPr>
              <a:t>TCP: CHAT ↔ DELIVER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88920" y="5577840"/>
            <a:ext cx="1371600" cy="0"/>
          </a:xfrm>
          <a:prstGeom prst="line">
            <a:avLst/>
          </a:prstGeom>
          <a:ln w="3810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788920" y="5577840"/>
            <a:ext cx="1371600" cy="0"/>
          </a:xfrm>
          <a:prstGeom prst="line">
            <a:avLst/>
          </a:prstGeom>
          <a:ln w="3810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Link label B"/>
          <p:cNvSpPr txBox="1"/>
          <p:nvPr/>
        </p:nvSpPr>
        <p:spPr>
          <a:xfrm>
            <a:off x="2788920" y="5669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 u="none">
                <a:solidFill>
                  <a:srgbClr val="1B5E3B"/>
                </a:solidFill>
                <a:latin typeface="Cambria"/>
              </a:rPr>
              <a:t>TCP</a:t>
            </a:r>
          </a:p>
        </p:txBody>
      </p:sp>
      <p:sp>
        <p:nvSpPr>
          <p:cNvPr id="43" name="Dashboard"/>
          <p:cNvSpPr/>
          <p:nvPr/>
        </p:nvSpPr>
        <p:spPr>
          <a:xfrm>
            <a:off x="9144000" y="128016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DCEBFA"/>
          </a:solidFill>
          <a:ln w="317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00000"/>
                </a:solidFill>
                <a:latin typeface="Cambria"/>
              </a:rPr>
              <a:t>Browser dashboard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u="none">
                <a:solidFill>
                  <a:srgbClr val="000000"/>
                </a:solidFill>
                <a:latin typeface="Cambria"/>
              </a:rPr>
              <a:t>127.0.0.1:8080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921240" y="2331720"/>
            <a:ext cx="0" cy="822960"/>
          </a:xfrm>
          <a:prstGeom prst="line">
            <a:avLst/>
          </a:prstGeom>
          <a:ln w="38100">
            <a:solidFill>
              <a:srgbClr val="2B6CB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ashboard label"/>
          <p:cNvSpPr txBox="1"/>
          <p:nvPr/>
        </p:nvSpPr>
        <p:spPr>
          <a:xfrm>
            <a:off x="10012680" y="2423160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 u="none">
                <a:solidFill>
                  <a:srgbClr val="1B4F8A"/>
                </a:solidFill>
                <a:latin typeface="Cambria"/>
              </a:rPr>
              <a:t>HTTP status / control</a:t>
            </a:r>
          </a:p>
        </p:txBody>
      </p:sp>
      <p:sp>
        <p:nvSpPr>
          <p:cNvPr id="46" name="Legend"/>
          <p:cNvSpPr txBox="1"/>
          <p:nvPr/>
        </p:nvSpPr>
        <p:spPr>
          <a:xfrm>
            <a:off x="777240" y="62636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1F6F76"/>
                </a:solidFill>
                <a:latin typeface="Cambria"/>
              </a:rPr>
              <a:t>Teal lines: </a:t>
            </a:r>
            <a:r>
              <a:rPr sz="1600" b="0" i="0" u="none">
                <a:solidFill>
                  <a:srgbClr val="000000"/>
                </a:solidFill>
                <a:latin typeface="Cambria"/>
              </a:rPr>
              <a:t>leader replicates log entries to followers.  </a:t>
            </a:r>
            <a:r>
              <a:rPr sz="1600" b="1" i="0" u="none">
                <a:solidFill>
                  <a:srgbClr val="000000"/>
                </a:solidFill>
                <a:latin typeface="Cambria"/>
              </a:rPr>
              <a:t>Grey lines: </a:t>
            </a:r>
            <a:r>
              <a:rPr sz="1600" b="0" i="0" u="none">
                <a:solidFill>
                  <a:srgbClr val="000000"/>
                </a:solidFill>
                <a:latin typeface="Cambria"/>
              </a:rPr>
              <a:t>heartbeats and election messages between nodes.</a:t>
            </a:r>
          </a:p>
        </p:txBody>
      </p:sp>
      <p:sp>
        <p:nvSpPr>
          <p:cNvPr id="47" name="Write path heading"/>
          <p:cNvSpPr txBox="1"/>
          <p:nvPr/>
        </p:nvSpPr>
        <p:spPr>
          <a:xfrm>
            <a:off x="777240" y="6949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1F5459"/>
                </a:solidFill>
                <a:latin typeface="Cambria"/>
              </a:rPr>
              <a:t>Write path of one chat message</a:t>
            </a:r>
          </a:p>
        </p:txBody>
      </p:sp>
      <p:sp>
        <p:nvSpPr>
          <p:cNvPr id="48" name="Step 1"/>
          <p:cNvSpPr/>
          <p:nvPr/>
        </p:nvSpPr>
        <p:spPr>
          <a:xfrm>
            <a:off x="777240" y="7543800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1F5459"/>
                </a:solidFill>
                <a:latin typeface="Cambria"/>
              </a:rPr>
              <a:t>1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Cambria"/>
              </a:rPr>
              <a:t>Client sends CHAT to its node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587751" y="8385048"/>
            <a:ext cx="345187" cy="0"/>
          </a:xfrm>
          <a:prstGeom prst="line">
            <a:avLst/>
          </a:prstGeom>
          <a:ln w="31750">
            <a:solidFill>
              <a:srgbClr val="1F54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Step 2"/>
          <p:cNvSpPr/>
          <p:nvPr/>
        </p:nvSpPr>
        <p:spPr>
          <a:xfrm>
            <a:off x="2960370" y="7543800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1F5459"/>
                </a:solidFill>
                <a:latin typeface="Cambria"/>
              </a:rPr>
              <a:t>2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Cambria"/>
              </a:rPr>
              <a:t>Follower FORWARDs it to the leader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770882" y="8385048"/>
            <a:ext cx="345186" cy="0"/>
          </a:xfrm>
          <a:prstGeom prst="line">
            <a:avLst/>
          </a:prstGeom>
          <a:ln w="31750">
            <a:solidFill>
              <a:srgbClr val="1F54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tep 3"/>
          <p:cNvSpPr/>
          <p:nvPr/>
        </p:nvSpPr>
        <p:spPr>
          <a:xfrm>
            <a:off x="5143500" y="7543800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1F5459"/>
                </a:solidFill>
                <a:latin typeface="Cambria"/>
              </a:rPr>
              <a:t>3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Cambria"/>
              </a:rPr>
              <a:t>Leader assigns a sequence no. and REPLICATEs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954012" y="8385048"/>
            <a:ext cx="345185" cy="0"/>
          </a:xfrm>
          <a:prstGeom prst="line">
            <a:avLst/>
          </a:prstGeom>
          <a:ln w="31750">
            <a:solidFill>
              <a:srgbClr val="1F54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Step 4"/>
          <p:cNvSpPr/>
          <p:nvPr/>
        </p:nvSpPr>
        <p:spPr>
          <a:xfrm>
            <a:off x="7326630" y="7543800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1F5459"/>
                </a:solidFill>
                <a:latin typeface="Cambria"/>
              </a:rPr>
              <a:t>4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Cambria"/>
              </a:rPr>
              <a:t>Majority ACK, then leader COMMITs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37142" y="8385048"/>
            <a:ext cx="345186" cy="0"/>
          </a:xfrm>
          <a:prstGeom prst="line">
            <a:avLst/>
          </a:prstGeom>
          <a:ln w="31750">
            <a:solidFill>
              <a:srgbClr val="1F54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Step 5"/>
          <p:cNvSpPr/>
          <p:nvPr/>
        </p:nvSpPr>
        <p:spPr>
          <a:xfrm>
            <a:off x="9509760" y="7543800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49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1F5459"/>
                </a:solidFill>
                <a:latin typeface="Cambria"/>
              </a:rPr>
              <a:t>5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000000"/>
                </a:solidFill>
                <a:latin typeface="Cambria"/>
              </a:rPr>
              <a:t>Nodes DELIVER committed messages to clients</a:t>
            </a:r>
          </a:p>
        </p:txBody>
      </p:sp>
      <p:sp>
        <p:nvSpPr>
          <p:cNvPr id="57" name="Tools box"/>
          <p:cNvSpPr/>
          <p:nvPr/>
        </p:nvSpPr>
        <p:spPr>
          <a:xfrm>
            <a:off x="11841480" y="411480"/>
            <a:ext cx="6035040" cy="288036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ox heading"/>
          <p:cNvSpPr txBox="1"/>
          <p:nvPr/>
        </p:nvSpPr>
        <p:spPr>
          <a:xfrm>
            <a:off x="11841480" y="5029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 u="sng">
                <a:solidFill>
                  <a:srgbClr val="000000"/>
                </a:solidFill>
                <a:latin typeface="Cambria"/>
              </a:rPr>
              <a:t>Tools</a:t>
            </a:r>
          </a:p>
        </p:txBody>
      </p:sp>
      <p:sp>
        <p:nvSpPr>
          <p:cNvPr id="59" name="Tools list"/>
          <p:cNvSpPr txBox="1"/>
          <p:nvPr/>
        </p:nvSpPr>
        <p:spPr>
          <a:xfrm>
            <a:off x="12161520" y="1280160"/>
            <a:ext cx="5440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200" b="0" i="0" u="none">
                <a:solidFill>
                  <a:srgbClr val="000000"/>
                </a:solidFill>
                <a:latin typeface="Cambria"/>
              </a:rPr>
              <a:t>Python 3.14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200" b="0" i="0" u="none">
                <a:solidFill>
                  <a:srgbClr val="000000"/>
                </a:solidFill>
                <a:latin typeface="Cambria"/>
              </a:rPr>
              <a:t>socket, threading, json, http.server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200" b="0" i="0" u="none">
                <a:solidFill>
                  <a:srgbClr val="000000"/>
                </a:solidFill>
                <a:latin typeface="Cambria"/>
              </a:rPr>
              <a:t>Browser-based dashboard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200" b="0" i="0" u="none">
                <a:solidFill>
                  <a:srgbClr val="000000"/>
                </a:solidFill>
                <a:latin typeface="Cambria"/>
              </a:rPr>
              <a:t>Matplotlib (benchmark graphs)</a:t>
            </a:r>
          </a:p>
        </p:txBody>
      </p:sp>
      <p:sp>
        <p:nvSpPr>
          <p:cNvPr id="60" name="Protocol box"/>
          <p:cNvSpPr/>
          <p:nvPr/>
        </p:nvSpPr>
        <p:spPr>
          <a:xfrm>
            <a:off x="11841480" y="3566160"/>
            <a:ext cx="6035040" cy="589788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ox heading"/>
          <p:cNvSpPr txBox="1"/>
          <p:nvPr/>
        </p:nvSpPr>
        <p:spPr>
          <a:xfrm>
            <a:off x="11841480" y="365760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 u="sng">
                <a:solidFill>
                  <a:srgbClr val="000000"/>
                </a:solidFill>
                <a:latin typeface="Cambria"/>
              </a:rPr>
              <a:t>Protocol and Addressing</a:t>
            </a:r>
          </a:p>
        </p:txBody>
      </p:sp>
      <p:sp>
        <p:nvSpPr>
          <p:cNvPr id="62" name="Protocol list"/>
          <p:cNvSpPr txBox="1"/>
          <p:nvPr/>
        </p:nvSpPr>
        <p:spPr>
          <a:xfrm>
            <a:off x="12161520" y="4434840"/>
            <a:ext cx="54406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Protocol: TCP between nodes and clients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Messages: newline-delimited JSON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TCP: 127.0.0.1:9001–9005 (peers and clients)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HTTP status/control: 127.0.0.1:9101–9105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Dashboard: 127.0.0.1:8080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Heartbeat 0.5 s, failure timeout 1.5 s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All nodes ran on one computer (loopback)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75295" y="715116"/>
            <a:ext cx="6858855" cy="2868248"/>
          </a:xfrm>
          <a:custGeom>
            <a:avLst/>
            <a:gdLst/>
            <a:ahLst/>
            <a:cxnLst/>
            <a:rect r="r" b="b" t="t" l="l"/>
            <a:pathLst>
              <a:path h="2868248" w="6858855">
                <a:moveTo>
                  <a:pt x="0" y="0"/>
                </a:moveTo>
                <a:lnTo>
                  <a:pt x="6858854" y="0"/>
                </a:lnTo>
                <a:lnTo>
                  <a:pt x="6858854" y="2868248"/>
                </a:lnTo>
                <a:lnTo>
                  <a:pt x="0" y="286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5361651" y="5575361"/>
            <a:ext cx="4409688" cy="4959772"/>
          </a:xfrm>
          <a:custGeom>
            <a:avLst/>
            <a:gdLst/>
            <a:ahLst/>
            <a:cxnLst/>
            <a:rect r="r" b="b" t="t" l="l"/>
            <a:pathLst>
              <a:path h="4959772" w="4409688">
                <a:moveTo>
                  <a:pt x="0" y="0"/>
                </a:moveTo>
                <a:lnTo>
                  <a:pt x="4409688" y="0"/>
                </a:lnTo>
                <a:lnTo>
                  <a:pt x="4409688" y="4959772"/>
                </a:lnTo>
                <a:lnTo>
                  <a:pt x="0" y="495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997031" y="464291"/>
            <a:ext cx="8109718" cy="3391337"/>
          </a:xfrm>
          <a:custGeom>
            <a:avLst/>
            <a:gdLst/>
            <a:ahLst/>
            <a:cxnLst/>
            <a:rect r="r" b="b" t="t" l="l"/>
            <a:pathLst>
              <a:path h="3391337" w="8109718">
                <a:moveTo>
                  <a:pt x="0" y="0"/>
                </a:moveTo>
                <a:lnTo>
                  <a:pt x="8109718" y="0"/>
                </a:lnTo>
                <a:lnTo>
                  <a:pt x="8109718" y="3391337"/>
                </a:lnTo>
                <a:lnTo>
                  <a:pt x="0" y="3391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20" name="Working box"/>
          <p:cNvSpPr/>
          <p:nvPr/>
        </p:nvSpPr>
        <p:spPr>
          <a:xfrm>
            <a:off x="457200" y="457200"/>
            <a:ext cx="10607040" cy="905256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x heading"/>
          <p:cNvSpPr txBox="1"/>
          <p:nvPr/>
        </p:nvSpPr>
        <p:spPr>
          <a:xfrm>
            <a:off x="457200" y="5943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200" b="1" i="0" u="sng">
                <a:solidFill>
                  <a:srgbClr val="000000"/>
                </a:solidFill>
                <a:latin typeface="Cambria"/>
              </a:rPr>
              <a:t>Technical Working</a:t>
            </a:r>
          </a:p>
        </p:txBody>
      </p:sp>
      <p:sp>
        <p:nvSpPr>
          <p:cNvPr id="22" name="Working steps"/>
          <p:cNvSpPr txBox="1"/>
          <p:nvPr/>
        </p:nvSpPr>
        <p:spPr>
          <a:xfrm>
            <a:off x="868680" y="1463040"/>
            <a:ext cx="987552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Start the node cluster and the dashboard.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Nodes exchange heartbeats every 0.5 s.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A follower detects leader silence after the 1.5 s timeout.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Nodes run the selected election algorithm.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The new leader collects peers’ logs before serving writes.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Chat messages are sequenced and replicated to followers.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A message is committed after a majority acknowledges it.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Clients receive committed messages in the same order.</a:t>
            </a:r>
          </a:p>
          <a:p>
            <a:pPr algn="l" marL="685800" indent="-685800">
              <a:spcBef>
                <a:spcPts val="0"/>
              </a:spcBef>
              <a:spcAft>
                <a:spcPts val="1600"/>
              </a:spcAft>
              <a:buFont typeface="Arial"/>
              <a:buAutoNum type="arabicPeriod"/>
            </a:pPr>
            <a:r>
              <a:rPr sz="2800" b="0" i="0" u="none">
                <a:solidFill>
                  <a:srgbClr val="000000"/>
                </a:solidFill>
                <a:latin typeface="Cambria"/>
              </a:rPr>
              <a:t>Restarted nodes synchronise their missing history.</a:t>
            </a:r>
          </a:p>
        </p:txBody>
      </p:sp>
      <p:sp>
        <p:nvSpPr>
          <p:cNvPr id="23" name="Implementation box"/>
          <p:cNvSpPr/>
          <p:nvPr/>
        </p:nvSpPr>
        <p:spPr>
          <a:xfrm>
            <a:off x="11338560" y="457200"/>
            <a:ext cx="6492240" cy="365760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x heading"/>
          <p:cNvSpPr txBox="1"/>
          <p:nvPr/>
        </p:nvSpPr>
        <p:spPr>
          <a:xfrm>
            <a:off x="11338560" y="594360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 u="sng">
                <a:solidFill>
                  <a:srgbClr val="000000"/>
                </a:solidFill>
                <a:latin typeface="Cambria"/>
              </a:rPr>
              <a:t>Implementation</a:t>
            </a:r>
          </a:p>
        </p:txBody>
      </p:sp>
      <p:sp>
        <p:nvSpPr>
          <p:cNvPr id="25" name="Implementation list"/>
          <p:cNvSpPr txBox="1"/>
          <p:nvPr/>
        </p:nvSpPr>
        <p:spPr>
          <a:xfrm>
            <a:off x="11658600" y="1371600"/>
            <a:ext cx="58978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Every node runs the same program (node.py)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States: follower, election, leader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Threads: accept, read, heartbeat, monitor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JSON-line messages with a Lamport clock</a:t>
            </a:r>
          </a:p>
        </p:txBody>
      </p:sp>
      <p:sp>
        <p:nvSpPr>
          <p:cNvPr id="26" name="Algorithms box"/>
          <p:cNvSpPr/>
          <p:nvPr/>
        </p:nvSpPr>
        <p:spPr>
          <a:xfrm>
            <a:off x="11338560" y="4389120"/>
            <a:ext cx="6492240" cy="512064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x heading"/>
          <p:cNvSpPr txBox="1"/>
          <p:nvPr/>
        </p:nvSpPr>
        <p:spPr>
          <a:xfrm>
            <a:off x="11338560" y="4526280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 u="sng">
                <a:solidFill>
                  <a:srgbClr val="000000"/>
                </a:solidFill>
                <a:latin typeface="Cambria"/>
              </a:rPr>
              <a:t>Election Algorithms</a:t>
            </a:r>
          </a:p>
        </p:txBody>
      </p:sp>
      <p:sp>
        <p:nvSpPr>
          <p:cNvPr id="28" name="Algorithms list"/>
          <p:cNvSpPr txBox="1"/>
          <p:nvPr/>
        </p:nvSpPr>
        <p:spPr>
          <a:xfrm>
            <a:off x="11658600" y="5303520"/>
            <a:ext cx="58978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1" i="0" u="none">
                <a:solidFill>
                  <a:srgbClr val="000000"/>
                </a:solidFill>
                <a:latin typeface="Cambria"/>
              </a:rPr>
              <a:t>Voting: </a:t>
            </a:r>
            <a:r>
              <a:rPr sz="2200" b="0" i="0" u="none">
                <a:solidFill>
                  <a:srgbClr val="000000"/>
                </a:solidFill>
                <a:latin typeface="Cambria"/>
              </a:rPr>
              <a:t>random 0.5–1.5 s timeout, one vote per term, majority wins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1" i="0" u="none">
                <a:solidFill>
                  <a:srgbClr val="000000"/>
                </a:solidFill>
                <a:latin typeface="Cambria"/>
              </a:rPr>
              <a:t>Bully: </a:t>
            </a:r>
            <a:r>
              <a:rPr sz="2200" b="0" i="0" u="none">
                <a:solidFill>
                  <a:srgbClr val="000000"/>
                </a:solidFill>
                <a:latin typeface="Cambria"/>
              </a:rPr>
              <a:t>ELECTION to higher ids; highest live id wins</a:t>
            </a:r>
          </a:p>
          <a:p>
            <a:pPr algn="l" marL="365760" indent="-36576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1" i="0" u="none">
                <a:solidFill>
                  <a:srgbClr val="000000"/>
                </a:solidFill>
                <a:latin typeface="Cambria"/>
              </a:rPr>
              <a:t>Ring (Chang–Roberts): </a:t>
            </a:r>
            <a:r>
              <a:rPr sz="2200" b="0" i="0" u="none">
                <a:solidFill>
                  <a:srgbClr val="000000"/>
                </a:solidFill>
                <a:latin typeface="Cambria"/>
              </a:rPr>
              <a:t>token circulates the ring; its owner id returning wins</a:t>
            </a:r>
          </a:p>
          <a:p>
            <a:pPr algn="l" marL="0" indent="0">
              <a:spcBef>
                <a:spcPts val="400"/>
              </a:spcBef>
              <a:spcAft>
                <a:spcPts val="600"/>
              </a:spcAft>
              <a:buNone/>
            </a:pPr>
            <a:r>
              <a:rPr sz="2200" b="0" i="1" u="none">
                <a:solidFill>
                  <a:srgbClr val="000000"/>
                </a:solidFill>
                <a:latin typeface="Cambria"/>
              </a:rPr>
              <a:t>Selected at start-up: --algo vote | bully | ring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63531" y="2244724"/>
            <a:ext cx="6127061" cy="6505567"/>
          </a:xfrm>
          <a:custGeom>
            <a:avLst/>
            <a:gdLst/>
            <a:ahLst/>
            <a:cxnLst/>
            <a:rect r="r" b="b" t="t" l="l"/>
            <a:pathLst>
              <a:path h="6505567" w="6127061">
                <a:moveTo>
                  <a:pt x="0" y="0"/>
                </a:moveTo>
                <a:lnTo>
                  <a:pt x="6127062" y="0"/>
                </a:lnTo>
                <a:lnTo>
                  <a:pt x="6127062" y="6505568"/>
                </a:lnTo>
                <a:lnTo>
                  <a:pt x="0" y="650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1466202" y="1028700"/>
            <a:ext cx="7247641" cy="5073349"/>
          </a:xfrm>
          <a:custGeom>
            <a:avLst/>
            <a:gdLst/>
            <a:ahLst/>
            <a:cxnLst/>
            <a:rect r="r" b="b" t="t" l="l"/>
            <a:pathLst>
              <a:path h="5073349" w="7247641">
                <a:moveTo>
                  <a:pt x="0" y="0"/>
                </a:moveTo>
                <a:lnTo>
                  <a:pt x="7247641" y="0"/>
                </a:lnTo>
                <a:lnTo>
                  <a:pt x="7247641" y="5073349"/>
                </a:lnTo>
                <a:lnTo>
                  <a:pt x="0" y="5073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2743200" y="457200"/>
            <a:ext cx="1280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1" i="0" u="sng">
                <a:solidFill>
                  <a:srgbClr val="000000"/>
                </a:solidFill>
                <a:latin typeface="Cambria"/>
              </a:rPr>
              <a:t>Testing and Results</a:t>
            </a:r>
          </a:p>
        </p:txBody>
      </p:sp>
      <p:sp>
        <p:nvSpPr>
          <p:cNvPr id="10" name="Tests heading"/>
          <p:cNvSpPr txBox="1"/>
          <p:nvPr/>
        </p:nvSpPr>
        <p:spPr>
          <a:xfrm>
            <a:off x="640080" y="15544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 u="sng">
                <a:solidFill>
                  <a:srgbClr val="000000"/>
                </a:solidFill>
                <a:latin typeface="Cambria"/>
              </a:rPr>
              <a:t>Test scenarios (single computer, loopback):</a:t>
            </a:r>
          </a:p>
        </p:txBody>
      </p:sp>
      <p:sp>
        <p:nvSpPr>
          <p:cNvPr id="11" name="Tests list"/>
          <p:cNvSpPr txBox="1"/>
          <p:nvPr/>
        </p:nvSpPr>
        <p:spPr>
          <a:xfrm>
            <a:off x="640080" y="2377440"/>
            <a:ext cx="9784080" cy="6949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640080" indent="-64008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700" b="0" i="0" u="none">
                <a:solidFill>
                  <a:srgbClr val="000000"/>
                </a:solidFill>
                <a:latin typeface="Cambria"/>
              </a:rPr>
              <a:t>Startup and leader selection: all five nodes agree on one leader.</a:t>
            </a:r>
          </a:p>
          <a:p>
            <a:pPr algn="l" marL="640080" indent="-64008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700" b="0" i="0" u="none">
                <a:solidFill>
                  <a:srgbClr val="000000"/>
                </a:solidFill>
                <a:latin typeface="Cambria"/>
              </a:rPr>
              <a:t>Two clients on different nodes exchange 10 messages: same order on both.</a:t>
            </a:r>
          </a:p>
          <a:p>
            <a:pPr algn="l" marL="640080" indent="-64008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700" b="0" i="0" u="none">
                <a:solidFill>
                  <a:srgbClr val="000000"/>
                </a:solidFill>
                <a:latin typeface="Cambria"/>
              </a:rPr>
              <a:t>Leader crashed during traffic: new leader in 2.6 s, 20 of 20 messages delivered.</a:t>
            </a:r>
          </a:p>
          <a:p>
            <a:pPr algn="l" marL="640080" indent="-64008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700" b="0" i="0" u="none">
                <a:solidFill>
                  <a:srgbClr val="000000"/>
                </a:solidFill>
                <a:latin typeface="Cambria"/>
              </a:rPr>
              <a:t>Restarted node with an empty log recovers all 22 messages.</a:t>
            </a:r>
          </a:p>
          <a:p>
            <a:pPr algn="l" marL="640080" indent="-64008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700" b="0" i="0" u="none">
                <a:solidFill>
                  <a:srgbClr val="000000"/>
                </a:solidFill>
                <a:latin typeface="Cambria"/>
              </a:rPr>
              <a:t>Leader isolated, then network healed: majority elects a new leader and logs converge.</a:t>
            </a:r>
          </a:p>
          <a:p>
            <a:pPr algn="l" marL="640080" indent="-640080">
              <a:spcBef>
                <a:spcPts val="0"/>
              </a:spcBef>
              <a:spcAft>
                <a:spcPts val="1800"/>
              </a:spcAft>
              <a:buFont typeface="Arial"/>
              <a:buAutoNum type="arabicPeriod"/>
            </a:pPr>
            <a:r>
              <a:rPr sz="2700" b="0" i="0" u="none">
                <a:solidFill>
                  <a:srgbClr val="000000"/>
                </a:solidFill>
                <a:latin typeface="Cambria"/>
              </a:rPr>
              <a:t>Same scenarios repeated with Bully and Ring; all three algorithms compared in a benchmark.</a:t>
            </a:r>
          </a:p>
        </p:txBody>
      </p:sp>
      <p:sp>
        <p:nvSpPr>
          <p:cNvPr id="12" name="Results box"/>
          <p:cNvSpPr/>
          <p:nvPr/>
        </p:nvSpPr>
        <p:spPr>
          <a:xfrm>
            <a:off x="10789920" y="1554480"/>
            <a:ext cx="7040880" cy="7498079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x heading"/>
          <p:cNvSpPr txBox="1"/>
          <p:nvPr/>
        </p:nvSpPr>
        <p:spPr>
          <a:xfrm>
            <a:off x="10789920" y="1691640"/>
            <a:ext cx="7040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 u="sng">
                <a:solidFill>
                  <a:srgbClr val="000000"/>
                </a:solidFill>
                <a:latin typeface="Cambria"/>
              </a:rPr>
              <a:t>Performance Comparison</a:t>
            </a:r>
          </a:p>
        </p:txBody>
      </p:sp>
      <p:graphicFrame>
        <p:nvGraphicFramePr>
          <p:cNvPr id="14" name="Recovery table"/>
          <p:cNvGraphicFramePr>
            <a:graphicFrameLocks noGrp="1"/>
          </p:cNvGraphicFramePr>
          <p:nvPr/>
        </p:nvGraphicFramePr>
        <p:xfrm>
          <a:off x="11155680" y="2560320"/>
          <a:ext cx="6583679" cy="3474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34640"/>
                <a:gridCol w="3749039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  <a:latin typeface="Cambria"/>
                        </a:rPr>
                        <a:t>Algorithm</a:t>
                      </a:r>
                    </a:p>
                  </a:txBody>
                  <a:tcPr anchor="ctr" marL="109728" marR="109728">
                    <a:solidFill>
                      <a:srgbClr val="1F54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Cambria"/>
                        </a:rPr>
                        <a:t>Mean recovery time</a:t>
                      </a:r>
                    </a:p>
                  </a:txBody>
                  <a:tcPr anchor="ctr" marL="109728" marR="109728">
                    <a:solidFill>
                      <a:srgbClr val="1F545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Cambria"/>
                        </a:rPr>
                        <a:t>Voting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800" b="0">
                          <a:solidFill>
                            <a:srgbClr val="000000"/>
                          </a:solidFill>
                          <a:latin typeface="Cambria"/>
                        </a:rPr>
                        <a:t>2.09 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Cambria"/>
                        </a:rPr>
                        <a:t>Bully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800" b="0">
                          <a:solidFill>
                            <a:srgbClr val="000000"/>
                          </a:solidFill>
                          <a:latin typeface="Cambria"/>
                        </a:rPr>
                        <a:t>1.56 s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Cambria"/>
                        </a:rPr>
                        <a:t>Ring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800" b="0">
                          <a:solidFill>
                            <a:srgbClr val="000000"/>
                          </a:solidFill>
                          <a:latin typeface="Cambria"/>
                        </a:rPr>
                        <a:t>1.52 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sults notes"/>
          <p:cNvSpPr txBox="1"/>
          <p:nvPr/>
        </p:nvSpPr>
        <p:spPr>
          <a:xfrm>
            <a:off x="11155680" y="6309360"/>
            <a:ext cx="6309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2200" b="0" i="0" u="none">
                <a:solidFill>
                  <a:srgbClr val="000000"/>
                </a:solidFill>
                <a:latin typeface="Cambria"/>
              </a:rPr>
              <a:t>Measured mean recovery time after a leader crash, across the tested cluster sizes (3, 5, 7 and 9 nodes); 3 trials per configuration.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srgbClr val="000000"/>
                </a:solidFill>
                <a:latin typeface="Cambria"/>
              </a:rPr>
              <a:t>Voting election messages: 5, 11, 17 and 23 for 3, 5, 7 and 9 nodes.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30999" y="3424190"/>
            <a:ext cx="13249761" cy="7100622"/>
          </a:xfrm>
          <a:custGeom>
            <a:avLst/>
            <a:gdLst/>
            <a:ahLst/>
            <a:cxnLst/>
            <a:rect r="r" b="b" t="t" l="l"/>
            <a:pathLst>
              <a:path h="7100622" w="13249761">
                <a:moveTo>
                  <a:pt x="0" y="0"/>
                </a:moveTo>
                <a:lnTo>
                  <a:pt x="13249761" y="0"/>
                </a:lnTo>
                <a:lnTo>
                  <a:pt x="13249761" y="7100622"/>
                </a:lnTo>
                <a:lnTo>
                  <a:pt x="0" y="7100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743200" y="457200"/>
            <a:ext cx="1280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1" i="0" u="sng">
                <a:solidFill>
                  <a:srgbClr val="000000"/>
                </a:solidFill>
                <a:latin typeface="Cambria"/>
              </a:rPr>
              <a:t>Demonstration / Execution</a:t>
            </a:r>
          </a:p>
        </p:txBody>
      </p:sp>
      <p:sp>
        <p:nvSpPr>
          <p:cNvPr id="6" name="Commands box"/>
          <p:cNvSpPr/>
          <p:nvPr/>
        </p:nvSpPr>
        <p:spPr>
          <a:xfrm>
            <a:off x="457200" y="1554480"/>
            <a:ext cx="8321040" cy="777240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 heading"/>
          <p:cNvSpPr txBox="1"/>
          <p:nvPr/>
        </p:nvSpPr>
        <p:spPr>
          <a:xfrm>
            <a:off x="457200" y="1691640"/>
            <a:ext cx="8321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 u="sng">
                <a:solidFill>
                  <a:srgbClr val="000000"/>
                </a:solidFill>
                <a:latin typeface="Cambria"/>
              </a:rPr>
              <a:t>Run the Demo</a:t>
            </a:r>
          </a:p>
        </p:txBody>
      </p:sp>
      <p:sp>
        <p:nvSpPr>
          <p:cNvPr id="8" name="Commands"/>
          <p:cNvSpPr txBox="1"/>
          <p:nvPr/>
        </p:nvSpPr>
        <p:spPr>
          <a:xfrm>
            <a:off x="822960" y="2560320"/>
            <a:ext cx="75895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 i="0" u="none">
                <a:solidFill>
                  <a:srgbClr val="000000"/>
                </a:solidFill>
                <a:latin typeface="Courier New"/>
              </a:rPr>
              <a:t>python dashboard.py --spawn</a:t>
            </a:r>
          </a:p>
          <a:p>
            <a:pPr algn="l"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sz="2200" b="0" i="0" u="none">
                <a:solidFill>
                  <a:srgbClr val="1B2B2E"/>
                </a:solidFill>
                <a:latin typeface="Cambria"/>
              </a:rPr>
              <a:t>Starts 5 nodes and the dashboard (port 8080).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 i="0" u="none">
                <a:solidFill>
                  <a:srgbClr val="000000"/>
                </a:solidFill>
                <a:latin typeface="Courier New"/>
              </a:rPr>
              <a:t>python client.py --user alice</a:t>
            </a:r>
          </a:p>
          <a:p>
            <a:pPr algn="l"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sz="2200" b="0" i="0" u="none">
                <a:solidFill>
                  <a:srgbClr val="1B2B2E"/>
                </a:solidFill>
                <a:latin typeface="Cambria"/>
              </a:rPr>
              <a:t>Terminal chat client.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2200" b="1" i="0" u="none">
                <a:solidFill>
                  <a:srgbClr val="000000"/>
                </a:solidFill>
                <a:latin typeface="Courier New"/>
              </a:rPr>
              <a:t>python client.py --user bob --node 2</a:t>
            </a:r>
          </a:p>
          <a:p>
            <a:pPr algn="l"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sz="2200" b="0" i="0" u="none">
                <a:solidFill>
                  <a:srgbClr val="1B2B2E"/>
                </a:solidFill>
                <a:latin typeface="Cambria"/>
              </a:rPr>
              <a:t>Second client on another node.</a:t>
            </a:r>
          </a:p>
        </p:txBody>
      </p:sp>
      <p:sp>
        <p:nvSpPr>
          <p:cNvPr id="9" name="Dashboard features"/>
          <p:cNvSpPr txBox="1"/>
          <p:nvPr/>
        </p:nvSpPr>
        <p:spPr>
          <a:xfrm>
            <a:off x="822960" y="5852160"/>
            <a:ext cx="75895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400" b="1" i="0" u="none">
                <a:solidFill>
                  <a:srgbClr val="000000"/>
                </a:solidFill>
                <a:latin typeface="Cambria"/>
              </a:rPr>
              <a:t>The dashboard displays:</a:t>
            </a:r>
          </a:p>
          <a:p>
            <a:pPr algn="l" marL="365760" indent="-36576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Node status and current leader</a:t>
            </a:r>
          </a:p>
          <a:p>
            <a:pPr algn="l" marL="365760" indent="-36576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Live elections, vote by vote</a:t>
            </a:r>
          </a:p>
          <a:p>
            <a:pPr algn="l" marL="365760" indent="-36576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Chat activity and log fingerprints</a:t>
            </a:r>
          </a:p>
          <a:p>
            <a:pPr algn="l" marL="365760" indent="-36576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Failure injection: crash, restart, cut network, delay, packet loss</a:t>
            </a:r>
          </a:p>
        </p:txBody>
      </p:sp>
      <p:pic>
        <p:nvPicPr>
          <p:cNvPr id="10" name="Dashboard screenshot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572" y="1554480"/>
            <a:ext cx="8578215" cy="7223760"/>
          </a:xfrm>
          <a:prstGeom prst="rect">
            <a:avLst/>
          </a:prstGeom>
        </p:spPr>
      </p:pic>
      <p:sp>
        <p:nvSpPr>
          <p:cNvPr id="11" name="Screenshot caption"/>
          <p:cNvSpPr txBox="1"/>
          <p:nvPr/>
        </p:nvSpPr>
        <p:spPr>
          <a:xfrm>
            <a:off x="9052560" y="886968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1" u="none">
                <a:solidFill>
                  <a:srgbClr val="000000"/>
                </a:solidFill>
                <a:latin typeface="Cambria"/>
              </a:rPr>
              <a:t>Dashboard after recovery: Node 4 leads term 5 and all live nodes hold identical logs.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4" id="4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371600" y="411480"/>
            <a:ext cx="15544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1" i="0" u="sng">
                <a:solidFill>
                  <a:srgbClr val="000000"/>
                </a:solidFill>
                <a:latin typeface="Cambria"/>
              </a:rPr>
              <a:t>Comparative Analysis of Election Algorithms</a:t>
            </a:r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/>
        </p:nvGraphicFramePr>
        <p:xfrm>
          <a:off x="548640" y="1371600"/>
          <a:ext cx="17190718" cy="4114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20640"/>
                <a:gridCol w="4572000"/>
                <a:gridCol w="3749039"/>
                <a:gridCol w="3749039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600" b="1">
                          <a:solidFill>
                            <a:srgbClr val="FFFFFF"/>
                          </a:solidFill>
                          <a:latin typeface="Cambria"/>
                        </a:rPr>
                        <a:t>Criterion</a:t>
                      </a:r>
                    </a:p>
                  </a:txBody>
                  <a:tcPr anchor="ctr" marL="109728" marR="109728">
                    <a:solidFill>
                      <a:srgbClr val="1F54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mbria"/>
                        </a:rPr>
                        <a:t>Voting</a:t>
                      </a:r>
                    </a:p>
                  </a:txBody>
                  <a:tcPr anchor="ctr" marL="109728" marR="109728">
                    <a:solidFill>
                      <a:srgbClr val="1F54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mbria"/>
                        </a:rPr>
                        <a:t>Bully</a:t>
                      </a:r>
                    </a:p>
                  </a:txBody>
                  <a:tcPr anchor="ctr" marL="109728" marR="109728">
                    <a:solidFill>
                      <a:srgbClr val="1F54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Cambria"/>
                        </a:rPr>
                        <a:t>Ring</a:t>
                      </a:r>
                    </a:p>
                  </a:txBody>
                  <a:tcPr anchor="ctr" marL="109728" marR="109728">
                    <a:solidFill>
                      <a:srgbClr val="1F545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600" b="1">
                          <a:solidFill>
                            <a:srgbClr val="000000"/>
                          </a:solidFill>
                          <a:latin typeface="Cambria"/>
                        </a:rPr>
                        <a:t>Who wins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Any live node (random timers)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Highest live id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Highest live id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600" b="1">
                          <a:solidFill>
                            <a:srgbClr val="000000"/>
                          </a:solidFill>
                          <a:latin typeface="Cambria"/>
                        </a:rPr>
                        <a:t>Election messages, 5 nodes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11.0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20.0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10.0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600" b="1">
                          <a:solidFill>
                            <a:srgbClr val="000000"/>
                          </a:solidFill>
                          <a:latin typeface="Cambria"/>
                        </a:rPr>
                        <a:t>Election messages, 9 nodes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23.0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70.0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18.3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600" b="1">
                          <a:solidFill>
                            <a:srgbClr val="000000"/>
                          </a:solidFill>
                          <a:latin typeface="Cambria"/>
                        </a:rPr>
                        <a:t>Mean recovery, all sizes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2.09 s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1.56 s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1.52 s</a:t>
                      </a:r>
                    </a:p>
                  </a:txBody>
                  <a:tcPr anchor="ctr" marL="109728" marR="109728">
                    <a:solidFill>
                      <a:srgbClr val="E8EE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600" b="1">
                          <a:solidFill>
                            <a:srgbClr val="000000"/>
                          </a:solidFill>
                          <a:latin typeface="Cambria"/>
                        </a:rPr>
                        <a:t>Split votes possible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Yes, resolved by retry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No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600" b="0">
                          <a:solidFill>
                            <a:srgbClr val="000000"/>
                          </a:solidFill>
                          <a:latin typeface="Cambria"/>
                        </a:rPr>
                        <a:t>No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bservations box"/>
          <p:cNvSpPr/>
          <p:nvPr/>
        </p:nvSpPr>
        <p:spPr>
          <a:xfrm>
            <a:off x="457200" y="5715000"/>
            <a:ext cx="17373600" cy="379476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 heading"/>
          <p:cNvSpPr txBox="1"/>
          <p:nvPr/>
        </p:nvSpPr>
        <p:spPr>
          <a:xfrm>
            <a:off x="457200" y="580644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 u="sng">
                <a:solidFill>
                  <a:srgbClr val="000000"/>
                </a:solidFill>
                <a:latin typeface="Cambria"/>
              </a:rPr>
              <a:t>Observations</a:t>
            </a:r>
          </a:p>
        </p:txBody>
      </p:sp>
      <p:sp>
        <p:nvSpPr>
          <p:cNvPr id="9" name="Observations list"/>
          <p:cNvSpPr txBox="1"/>
          <p:nvPr/>
        </p:nvSpPr>
        <p:spPr>
          <a:xfrm>
            <a:off x="868680" y="6492240"/>
            <a:ext cx="165506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Voting: randomised timeouts and majority voting; split votes are resolved by another election round.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Bully: the highest live identifier wins; its message count grows fastest (about 70 at nine nodes).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Ring: an election token circulates the logical ring; fewest messages at nine nodes (18.3).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Ring had the lowest mean recovery (1.52 s), closely followed by Bully (1.56 s); voting took longer (2.09 s) but its message count grew linearly (3n−4).</a:t>
            </a:r>
          </a:p>
          <a:p>
            <a:pPr algn="l" marL="365760" indent="-36576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2300" b="0" i="0" u="none">
                <a:solidFill>
                  <a:srgbClr val="000000"/>
                </a:solidFill>
                <a:latin typeface="Cambria"/>
              </a:rPr>
              <a:t>Means of 3 trials on one computer; the Bully–Ring difference is within trial variation.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3" id="3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4" name="Advantages box"/>
          <p:cNvSpPr/>
          <p:nvPr/>
        </p:nvSpPr>
        <p:spPr>
          <a:xfrm>
            <a:off x="457200" y="914400"/>
            <a:ext cx="10789920" cy="822960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 heading"/>
          <p:cNvSpPr txBox="1"/>
          <p:nvPr/>
        </p:nvSpPr>
        <p:spPr>
          <a:xfrm>
            <a:off x="457200" y="10972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 i="0" u="sng">
                <a:solidFill>
                  <a:srgbClr val="000000"/>
                </a:solidFill>
                <a:latin typeface="Cambria"/>
              </a:rPr>
              <a:t>Advantages</a:t>
            </a:r>
          </a:p>
        </p:txBody>
      </p:sp>
      <p:sp>
        <p:nvSpPr>
          <p:cNvPr id="6" name="Advantages list"/>
          <p:cNvSpPr txBox="1"/>
          <p:nvPr/>
        </p:nvSpPr>
        <p:spPr>
          <a:xfrm>
            <a:off x="868680" y="2103120"/>
            <a:ext cx="10058400" cy="685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Automatic leader recovery after a crash (about two seconds).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Consistent message ordering: no loss or duplicates across failover.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Replicated chat history; restarted nodes resynchronise.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Client reconnection and safe retry.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Visual monitoring and fault injection on the dashboard.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Educational value for understanding distributed systems.</a:t>
            </a:r>
          </a:p>
        </p:txBody>
      </p:sp>
      <p:sp>
        <p:nvSpPr>
          <p:cNvPr id="7" name="Applications box"/>
          <p:cNvSpPr/>
          <p:nvPr/>
        </p:nvSpPr>
        <p:spPr>
          <a:xfrm>
            <a:off x="11521440" y="914400"/>
            <a:ext cx="6309360" cy="822960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 heading"/>
          <p:cNvSpPr txBox="1"/>
          <p:nvPr/>
        </p:nvSpPr>
        <p:spPr>
          <a:xfrm>
            <a:off x="11521440" y="109728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 i="0" u="sng">
                <a:solidFill>
                  <a:srgbClr val="000000"/>
                </a:solidFill>
                <a:latin typeface="Cambria"/>
              </a:rPr>
              <a:t>Applications</a:t>
            </a:r>
          </a:p>
        </p:txBody>
      </p:sp>
      <p:sp>
        <p:nvSpPr>
          <p:cNvPr id="9" name="Applications list"/>
          <p:cNvSpPr txBox="1"/>
          <p:nvPr/>
        </p:nvSpPr>
        <p:spPr>
          <a:xfrm>
            <a:off x="11887200" y="2103120"/>
            <a:ext cx="56692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Same ideas as replicated services and coordination services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Replicated databases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Message brokers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Teaching tool in a networks laboratory</a:t>
            </a:r>
          </a:p>
        </p:txBody>
      </p:sp>
      <p:sp>
        <p:nvSpPr>
          <p:cNvPr id="10" name="Prototype note"/>
          <p:cNvSpPr txBox="1"/>
          <p:nvPr/>
        </p:nvSpPr>
        <p:spPr>
          <a:xfrm>
            <a:off x="11887200" y="7223760"/>
            <a:ext cx="5669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600" b="0" i="1" u="none">
                <a:solidFill>
                  <a:srgbClr val="000000"/>
                </a:solidFill>
                <a:latin typeface="Cambria"/>
              </a:rPr>
              <a:t>A prototype for learning, not a production deployment.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3" id="3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4" name="Limitations box"/>
          <p:cNvSpPr/>
          <p:nvPr/>
        </p:nvSpPr>
        <p:spPr>
          <a:xfrm>
            <a:off x="457200" y="731520"/>
            <a:ext cx="10607040" cy="868680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 heading"/>
          <p:cNvSpPr txBox="1"/>
          <p:nvPr/>
        </p:nvSpPr>
        <p:spPr>
          <a:xfrm>
            <a:off x="45720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 i="0" u="sng">
                <a:solidFill>
                  <a:srgbClr val="000000"/>
                </a:solidFill>
                <a:latin typeface="Cambria"/>
              </a:rPr>
              <a:t>Limitations</a:t>
            </a:r>
          </a:p>
        </p:txBody>
      </p:sp>
      <p:sp>
        <p:nvSpPr>
          <p:cNvPr id="6" name="Limitations list"/>
          <p:cNvSpPr txBox="1"/>
          <p:nvPr/>
        </p:nvSpPr>
        <p:spPr>
          <a:xfrm>
            <a:off x="868680" y="1828800"/>
            <a:ext cx="9875520" cy="7498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Message history is held in memory and is lost if all nodes stop.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Node membership is fixed at start-up.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No encryption or authentication.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Simplified Raft-inspired protocol, not formally proved.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Tested on one computer; multi-computer behaviour was not evaluated.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Not tested: loss of a majority of nodes, failure of all nodes at once, and measured effects of delay and packet loss.</a:t>
            </a:r>
          </a:p>
        </p:txBody>
      </p:sp>
      <p:sp>
        <p:nvSpPr>
          <p:cNvPr id="7" name="Future scope box"/>
          <p:cNvSpPr/>
          <p:nvPr/>
        </p:nvSpPr>
        <p:spPr>
          <a:xfrm>
            <a:off x="11338560" y="731520"/>
            <a:ext cx="6492240" cy="8686800"/>
          </a:xfrm>
          <a:prstGeom prst="roundRect">
            <a:avLst>
              <a:gd name="adj" fmla="val 3500"/>
            </a:avLst>
          </a:prstGeom>
          <a:solidFill>
            <a:srgbClr val="C8D1D9"/>
          </a:solidFill>
          <a:ln w="66675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x heading"/>
          <p:cNvSpPr txBox="1"/>
          <p:nvPr/>
        </p:nvSpPr>
        <p:spPr>
          <a:xfrm>
            <a:off x="11338560" y="868680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 i="0" u="sng">
                <a:solidFill>
                  <a:srgbClr val="000000"/>
                </a:solidFill>
                <a:latin typeface="Cambria"/>
              </a:rPr>
              <a:t>Future Scope</a:t>
            </a:r>
          </a:p>
        </p:txBody>
      </p:sp>
      <p:sp>
        <p:nvSpPr>
          <p:cNvPr id="9" name="Future scope list"/>
          <p:cNvSpPr txBox="1"/>
          <p:nvPr/>
        </p:nvSpPr>
        <p:spPr>
          <a:xfrm>
            <a:off x="11704320" y="1828800"/>
            <a:ext cx="5852160" cy="7498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Persistent storage for the log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Dynamic node membership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TLS and authentication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Formal verification of the protocol</a:t>
            </a:r>
          </a:p>
          <a:p>
            <a:pPr algn="l" marL="502920" indent="-502920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sz="2900" b="0" i="0" u="none">
                <a:solidFill>
                  <a:srgbClr val="000000"/>
                </a:solidFill>
                <a:latin typeface="Cambria"/>
              </a:rPr>
              <a:t>Benchmarks across several computers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3" id="3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0" i="0" u="sng">
                <a:solidFill>
                  <a:srgbClr val="000000"/>
                </a:solidFill>
                <a:latin typeface="Cambria"/>
              </a:rPr>
              <a:t>References:</a:t>
            </a:r>
          </a:p>
        </p:txBody>
      </p:sp>
      <p:sp>
        <p:nvSpPr>
          <p:cNvPr id="5" name="References list"/>
          <p:cNvSpPr txBox="1"/>
          <p:nvPr/>
        </p:nvSpPr>
        <p:spPr>
          <a:xfrm>
            <a:off x="731520" y="1645920"/>
            <a:ext cx="1682496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[1] A. S. Tanenbaum and M. van Steen, </a:t>
            </a:r>
            <a:r>
              <a:rPr sz="2400" b="0" i="1" u="none">
                <a:solidFill>
                  <a:srgbClr val="000000"/>
                </a:solidFill>
                <a:latin typeface="Cambria"/>
              </a:rPr>
              <a:t>Distributed Systems: Principles and Paradigms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, 2nd ed. Upper Saddle River, NJ, USA: Pearson Prentice Hall, 2007.</a:t>
            </a:r>
          </a:p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[2] W. Eddy, Ed., “Transmission Control Protocol (TCP),” Internet Engineering Task Force, RFC 9293, Aug. 2022. [Online]. Available: </a:t>
            </a:r>
            <a:r>
              <a:rPr sz="2400" b="0" i="0" u="none">
                <a:solidFill>
                  <a:srgbClr val="000000"/>
                </a:solidFill>
                <a:latin typeface="Cambria"/>
                <a:hlinkClick r:id="rId2"/>
              </a:rPr>
              <a:t>https://www.rfc-editor.org/info/rfc9293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.</a:t>
            </a:r>
          </a:p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[3] H. Garcia-Molina, “Elections in a distributed computing system,” </a:t>
            </a:r>
            <a:r>
              <a:rPr sz="2400" b="0" i="1" u="none">
                <a:solidFill>
                  <a:srgbClr val="000000"/>
                </a:solidFill>
                <a:latin typeface="Cambria"/>
              </a:rPr>
              <a:t>IEEE Trans. Comput.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, vol. C-31, no. 1, pp. 48–59, Jan. 1982.</a:t>
            </a:r>
          </a:p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[4] E. Chang and R. Roberts, “An improved algorithm for decentralized extrema-finding in circular configurations of processes,” </a:t>
            </a:r>
            <a:r>
              <a:rPr sz="2400" b="0" i="1" u="none">
                <a:solidFill>
                  <a:srgbClr val="000000"/>
                </a:solidFill>
                <a:latin typeface="Cambria"/>
              </a:rPr>
              <a:t>Commun. ACM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, vol. 22, no. 5, pp. 281–283, May 1979.</a:t>
            </a:r>
          </a:p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[5] D. Ongaro and J. Ousterhout, “In search of an understandable consensus algorithm,” in </a:t>
            </a:r>
            <a:r>
              <a:rPr sz="2400" b="0" i="1" u="none">
                <a:solidFill>
                  <a:srgbClr val="000000"/>
                </a:solidFill>
                <a:latin typeface="Cambria"/>
              </a:rPr>
              <a:t>Proc. USENIX Annu. Tech. Conf. (USENIX ATC)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, Philadelphia, PA, USA, Jun. 2014, pp. 305–319.</a:t>
            </a:r>
          </a:p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[6] L. Lamport, “Time, clocks, and the ordering of events in a distributed system,” </a:t>
            </a:r>
            <a:r>
              <a:rPr sz="2400" b="0" i="1" u="none">
                <a:solidFill>
                  <a:srgbClr val="000000"/>
                </a:solidFill>
                <a:latin typeface="Cambria"/>
              </a:rPr>
              <a:t>Commun. ACM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, vol. 21, no. 7, pp. 558–565, Jul. 1978.</a:t>
            </a:r>
          </a:p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[7] S. Gilbert and N. Lynch, “Brewer’s conjecture and the feasibility of consistent, available, partition-tolerant web services,” </a:t>
            </a:r>
            <a:r>
              <a:rPr sz="2400" b="0" i="1" u="none">
                <a:solidFill>
                  <a:srgbClr val="000000"/>
                </a:solidFill>
                <a:latin typeface="Cambria"/>
              </a:rPr>
              <a:t>ACM SIGACT News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, vol. 33, no. 2, pp. 51–59, Jun. 2002.</a:t>
            </a:r>
          </a:p>
          <a:p>
            <a:pPr algn="l" marL="0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2400" b="0" i="0" u="none">
                <a:solidFill>
                  <a:srgbClr val="000000"/>
                </a:solidFill>
                <a:latin typeface="Cambria"/>
              </a:rPr>
              <a:t>[8] Python Software Foundation, “socket — Low-level networking interface,” </a:t>
            </a:r>
            <a:r>
              <a:rPr sz="2400" b="0" i="1" u="none">
                <a:solidFill>
                  <a:srgbClr val="000000"/>
                </a:solidFill>
                <a:latin typeface="Cambria"/>
              </a:rPr>
              <a:t>Python 3 Documentation</a:t>
            </a:r>
            <a:r>
              <a:rPr sz="2400" b="0" i="0" u="none">
                <a:solidFill>
                  <a:srgbClr val="000000"/>
                </a:solidFill>
                <a:latin typeface="Cambria"/>
              </a:rPr>
              <a:t>. [Online]. Available: </a:t>
            </a:r>
            <a:r>
              <a:rPr sz="2400" b="0" i="0" u="none">
                <a:solidFill>
                  <a:srgbClr val="000000"/>
                </a:solidFill>
                <a:latin typeface="Cambria"/>
                <a:hlinkClick r:id="rId3"/>
              </a:rPr>
              <a:t>https://docs.python.org/3/library/socket.html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39400" y="417175"/>
            <a:ext cx="4455000" cy="4114800"/>
          </a:xfrm>
          <a:custGeom>
            <a:avLst/>
            <a:gdLst/>
            <a:ahLst/>
            <a:cxnLst/>
            <a:rect r="r" b="b" t="t" l="l"/>
            <a:pathLst>
              <a:path h="4114800" w="4455000">
                <a:moveTo>
                  <a:pt x="0" y="0"/>
                </a:moveTo>
                <a:lnTo>
                  <a:pt x="4455000" y="0"/>
                </a:lnTo>
                <a:lnTo>
                  <a:pt x="445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false" rot="0">
            <a:off x="-2208216" y="417175"/>
            <a:ext cx="4455000" cy="4114800"/>
          </a:xfrm>
          <a:custGeom>
            <a:avLst/>
            <a:gdLst/>
            <a:ahLst/>
            <a:cxnLst/>
            <a:rect r="r" b="b" t="t" l="l"/>
            <a:pathLst>
              <a:path h="4114800" w="4455000">
                <a:moveTo>
                  <a:pt x="4455000" y="0"/>
                </a:moveTo>
                <a:lnTo>
                  <a:pt x="0" y="0"/>
                </a:lnTo>
                <a:lnTo>
                  <a:pt x="0" y="4114800"/>
                </a:lnTo>
                <a:lnTo>
                  <a:pt x="4455000" y="4114800"/>
                </a:lnTo>
                <a:lnTo>
                  <a:pt x="4455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4572000" y="10972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800" b="1" i="0" u="sng">
                <a:solidFill>
                  <a:srgbClr val="000000"/>
                </a:solidFill>
                <a:latin typeface="Cambria"/>
              </a:rPr>
              <a:t>CONCLUSION</a:t>
            </a:r>
          </a:p>
        </p:txBody>
      </p:sp>
      <p:sp>
        <p:nvSpPr>
          <p:cNvPr id="9" name="Conclusion text"/>
          <p:cNvSpPr txBox="1"/>
          <p:nvPr/>
        </p:nvSpPr>
        <p:spPr>
          <a:xfrm>
            <a:off x="914400" y="2651760"/>
            <a:ext cx="1645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u="none">
                <a:solidFill>
                  <a:srgbClr val="000000"/>
                </a:solidFill>
                <a:latin typeface="Cambria"/>
              </a:rPr>
              <a:t>The project demonstrates a Python-based distributed chat service that uses heartbeat failure detection, leader election, TCP communication and majority-committed message replication.</a:t>
            </a:r>
          </a:p>
        </p:txBody>
      </p:sp>
      <p:sp>
        <p:nvSpPr>
          <p:cNvPr id="10" name="Team heading"/>
          <p:cNvSpPr txBox="1"/>
          <p:nvPr/>
        </p:nvSpPr>
        <p:spPr>
          <a:xfrm>
            <a:off x="914400" y="4480560"/>
            <a:ext cx="1645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 u="sng">
                <a:solidFill>
                  <a:srgbClr val="000000"/>
                </a:solidFill>
                <a:latin typeface="Cambria"/>
              </a:rPr>
              <a:t>Team Contributions:</a:t>
            </a:r>
          </a:p>
        </p:txBody>
      </p:sp>
      <p:sp>
        <p:nvSpPr>
          <p:cNvPr id="11" name="Team list"/>
          <p:cNvSpPr txBox="1"/>
          <p:nvPr/>
        </p:nvSpPr>
        <p:spPr>
          <a:xfrm>
            <a:off x="1188720" y="5303520"/>
            <a:ext cx="1636775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2800" b="1" i="0" u="none">
                <a:solidFill>
                  <a:srgbClr val="000000"/>
                </a:solidFill>
                <a:latin typeface="Cambria"/>
              </a:rPr>
              <a:t>Mitansh Dekate: </a:t>
            </a:r>
            <a:r>
              <a:rPr sz="2800" b="0" i="0" u="none">
                <a:solidFill>
                  <a:srgbClr val="000000"/>
                </a:solidFill>
                <a:latin typeface="Cambria"/>
              </a:rPr>
              <a:t>Problem statement, objectives, and distributed-systems introduction.</a:t>
            </a:r>
          </a:p>
          <a:p>
            <a:pPr algn="l"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2800" b="1" i="0" u="none">
                <a:solidFill>
                  <a:srgbClr val="000000"/>
                </a:solidFill>
                <a:latin typeface="Cambria"/>
              </a:rPr>
              <a:t>Om Mali: </a:t>
            </a:r>
            <a:r>
              <a:rPr sz="2800" b="0" i="0" u="none">
                <a:solidFill>
                  <a:srgbClr val="000000"/>
                </a:solidFill>
                <a:latin typeface="Cambria"/>
              </a:rPr>
              <a:t>Python implementation, client–server communication, and demonstration.</a:t>
            </a:r>
          </a:p>
          <a:p>
            <a:pPr algn="l"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2800" b="1" i="0" u="none">
                <a:solidFill>
                  <a:srgbClr val="000000"/>
                </a:solidFill>
                <a:latin typeface="Cambria"/>
              </a:rPr>
              <a:t>Kartik Saxena: </a:t>
            </a:r>
            <a:r>
              <a:rPr sz="2800" b="0" i="0" u="none">
                <a:solidFill>
                  <a:srgbClr val="000000"/>
                </a:solidFill>
                <a:latin typeface="Cambria"/>
              </a:rPr>
              <a:t>System architecture, tools, protocols, and addressing.</a:t>
            </a:r>
          </a:p>
          <a:p>
            <a:pPr algn="l" marL="457200" indent="-457200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2800" b="1" i="0" u="none">
                <a:solidFill>
                  <a:srgbClr val="000000"/>
                </a:solidFill>
                <a:latin typeface="Cambria"/>
              </a:rPr>
              <a:t>Harpal Kalankar: </a:t>
            </a:r>
            <a:r>
              <a:rPr sz="2800" b="0" i="0" u="none">
                <a:solidFill>
                  <a:srgbClr val="000000"/>
                </a:solidFill>
                <a:latin typeface="Cambria"/>
              </a:rPr>
              <a:t>Testing, results, limitations, and conclusion.</a:t>
            </a:r>
          </a:p>
        </p:txBody>
      </p:sp>
      <p:sp>
        <p:nvSpPr>
          <p:cNvPr id="12" name="AI use"/>
          <p:cNvSpPr txBox="1"/>
          <p:nvPr/>
        </p:nvSpPr>
        <p:spPr>
          <a:xfrm>
            <a:off x="914400" y="8595360"/>
            <a:ext cx="1645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 i="0" u="sng">
                <a:solidFill>
                  <a:srgbClr val="000000"/>
                </a:solidFill>
                <a:latin typeface="Cambria"/>
              </a:rPr>
              <a:t>AI Use: </a:t>
            </a:r>
            <a:r>
              <a:rPr sz="2800" b="0" i="0" u="none">
                <a:solidFill>
                  <a:srgbClr val="000000"/>
                </a:solidFill>
                <a:latin typeface="Cambria"/>
              </a:rPr>
              <a:t>Minimal AI assistance was used for documentation only.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26151" y="72442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768304" y="3111937"/>
            <a:ext cx="8375696" cy="428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1"/>
              </a:lnSpc>
            </a:pPr>
            <a:r>
              <a:rPr lang="en-US" sz="1633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799289" y="-178674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0" y="9836150"/>
            <a:ext cx="731520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>
                <a:solidFill>
                  <a:srgbClr val="34969D"/>
                </a:solidFill>
                <a:latin typeface="Cambria"/>
                <a:ea typeface="Cambria"/>
                <a:cs typeface="Cambria"/>
                <a:sym typeface="Cambria"/>
              </a:rPr>
              <a:t>Computer Networks Laboratory CSE20110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DAHZFHwMChU</dc:identifier>
  <dcterms:modified xsi:type="dcterms:W3CDTF">2011-08-01T06:04:30Z</dcterms:modified>
  <cp:revision>1</cp:revision>
  <dc:title>Green and Blue Classy Elegant Technology Group Project Presentation</dc:title>
</cp:coreProperties>
</file>